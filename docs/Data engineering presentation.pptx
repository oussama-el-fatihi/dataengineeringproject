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Nunito"/>
      <p:regular r:id="rId15"/>
      <p:bold r:id="rId16"/>
      <p:italic r:id="rId17"/>
      <p:boldItalic r:id="rId18"/>
    </p:embeddedFont>
    <p:embeddedFont>
      <p:font typeface="Maven Pro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venPr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regular.fntdata"/><Relationship Id="rId14" Type="http://schemas.openxmlformats.org/officeDocument/2006/relationships/slide" Target="slides/slide9.xml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avenPro-regular.fntdata"/><Relationship Id="rId6" Type="http://schemas.openxmlformats.org/officeDocument/2006/relationships/slide" Target="slides/slide1.xml"/><Relationship Id="rId18" Type="http://schemas.openxmlformats.org/officeDocument/2006/relationships/font" Target="fonts/Nuni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25b532bc67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25b532bc67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25b532bc67_0_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25b532bc67_0_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25b532bc67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25b532bc67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25b532bc67_0_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25b532bc67_0_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25b532bc67_0_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25b532bc67_0_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25b532bc67_0_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25b532bc67_0_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25b532bc67_0_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25b532bc67_0_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25b532bc67_0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25b532bc67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390250"/>
            <a:ext cx="5222100" cy="209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Energy Perception vs. Reality in France and Germany</a:t>
            </a:r>
            <a:endParaRPr sz="5300"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601625"/>
            <a:ext cx="5614200" cy="6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Célia Djouadi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Oussama El Fatihi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/>
              <a:t>Project presentation</a:t>
            </a:r>
            <a:endParaRPr sz="3300"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446225"/>
            <a:ext cx="7030500" cy="33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50" u="sng"/>
              <a:t>Subject </a:t>
            </a:r>
            <a:r>
              <a:rPr b="1" lang="en-GB" sz="7250"/>
              <a:t>: </a:t>
            </a:r>
            <a:endParaRPr b="1" sz="7250"/>
          </a:p>
          <a:p>
            <a:pPr indent="-305593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b="1" lang="en-GB" sz="4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Public Perception vs. Reality</a:t>
            </a:r>
            <a:endParaRPr sz="48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59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b="1" lang="en-GB" sz="4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Sentiment and Data Analysis</a:t>
            </a:r>
            <a:endParaRPr sz="48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59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b="1" lang="en-GB" sz="48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Actionable Insights</a:t>
            </a:r>
            <a:endParaRPr sz="48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0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7250" u="sng"/>
              <a:t>Questions we would like to answer</a:t>
            </a:r>
            <a:r>
              <a:rPr b="1" lang="en-GB" sz="7250"/>
              <a:t> : </a:t>
            </a:r>
            <a:endParaRPr sz="72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243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lang="en-GB" sz="4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are the key differences between public perception and actual data regarding energy production in France and Germany ?</a:t>
            </a:r>
            <a:endParaRPr sz="44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24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lang="en-GB" sz="4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does sentiment vary across different energy types ?</a:t>
            </a:r>
            <a:endParaRPr sz="44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924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lang="en-GB" sz="4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 public opinions aligned with emission realities ?</a:t>
            </a:r>
            <a:endParaRPr sz="44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40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40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0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sources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 Opinion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Reddit API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Sentiment analysis of posts/comments from energy-related subreddits (France &amp; Germany).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France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RTE CSV (energy production &amp; emissions).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Germany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Energy-Chart API (production) &amp; CSV (emissions)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278025" y="2422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Pipeline design</a:t>
            </a:r>
            <a:endParaRPr/>
          </a:p>
        </p:txBody>
      </p:sp>
      <p:pic>
        <p:nvPicPr>
          <p:cNvPr id="296" name="Google Shape;29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7800" y="1103750"/>
            <a:ext cx="6365124" cy="3597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</a:t>
            </a:r>
            <a:r>
              <a:rPr lang="en-GB"/>
              <a:t>visualization</a:t>
            </a:r>
            <a:r>
              <a:rPr lang="en-GB"/>
              <a:t> in Grafana</a:t>
            </a:r>
            <a:endParaRPr/>
          </a:p>
        </p:txBody>
      </p:sp>
      <p:pic>
        <p:nvPicPr>
          <p:cNvPr id="302" name="Google Shape;302;p17"/>
          <p:cNvPicPr preferRelativeResize="0"/>
          <p:nvPr/>
        </p:nvPicPr>
        <p:blipFill rotWithShape="1">
          <a:blip r:embed="rId3">
            <a:alphaModFix/>
          </a:blip>
          <a:srcRect b="0" l="0" r="655" t="0"/>
          <a:stretch/>
        </p:blipFill>
        <p:spPr>
          <a:xfrm>
            <a:off x="1303800" y="1310475"/>
            <a:ext cx="6863676" cy="356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visualization in Grafana</a:t>
            </a:r>
            <a:endParaRPr/>
          </a:p>
        </p:txBody>
      </p:sp>
      <p:pic>
        <p:nvPicPr>
          <p:cNvPr id="308" name="Google Shape;30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7750" y="1437725"/>
            <a:ext cx="6661850" cy="34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Analysis and limitations</a:t>
            </a:r>
            <a:endParaRPr/>
          </a:p>
        </p:txBody>
      </p:sp>
      <p:sp>
        <p:nvSpPr>
          <p:cNvPr id="314" name="Google Shape;314;p19"/>
          <p:cNvSpPr txBox="1"/>
          <p:nvPr>
            <p:ph idx="1" type="body"/>
          </p:nvPr>
        </p:nvSpPr>
        <p:spPr>
          <a:xfrm>
            <a:off x="1303800" y="1464900"/>
            <a:ext cx="7233600" cy="34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Observations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Nuclear Energy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Negative sentiment in Germany aligns with nuclear phase-out policy.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Positive sentiment in France reflects reliance on nuclear energy.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Renewables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Positively perceived in both countries, consistent with global green energy trends.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Limitations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Temporal Gap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Limited public opinion data before 2018.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Sampling Bias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Reddit comments, often negative, may skew sentiment analysis.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 of limitations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 may not represent the broader population due to Reddit-specific biases.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Broader datasets (e.g., surveys, other platforms) are needed for more accurate insights.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Next steps</a:t>
            </a:r>
            <a:endParaRPr/>
          </a:p>
        </p:txBody>
      </p:sp>
      <p:sp>
        <p:nvSpPr>
          <p:cNvPr id="320" name="Google Shape;320;p2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1"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Enhance Sentiment Analysis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1"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Automate Data Ingestion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1"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Expand Visualizations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1"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Address Data Gaps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</a:t>
            </a:r>
            <a:r>
              <a:rPr lang="en-GB"/>
              <a:t>xample of results with LLM (Gemini)</a:t>
            </a:r>
            <a:endParaRPr/>
          </a:p>
        </p:txBody>
      </p:sp>
      <p:sp>
        <p:nvSpPr>
          <p:cNvPr id="326" name="Google Shape;326;p21"/>
          <p:cNvSpPr txBox="1"/>
          <p:nvPr>
            <p:ph idx="1" type="body"/>
          </p:nvPr>
        </p:nvSpPr>
        <p:spPr>
          <a:xfrm>
            <a:off x="1303800" y="2139350"/>
            <a:ext cx="6813900" cy="15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13103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lang="en-GB" sz="532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“Ich finde es interessant, dass die Regierung so viel Geld in erneuerbare Energien investiert. Ich hoffe, dass sich das langfristig auszahlt." </a:t>
            </a:r>
            <a:endParaRPr sz="532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32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32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3103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lang="en-GB" sz="532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Translation : I find it interesting that the government is investing so much money in renewable energies. I hope it pays off in the long term.</a:t>
            </a:r>
            <a:endParaRPr sz="532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1"/>
          <p:cNvSpPr/>
          <p:nvPr/>
        </p:nvSpPr>
        <p:spPr>
          <a:xfrm>
            <a:off x="2210950" y="3778100"/>
            <a:ext cx="587700" cy="26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3007150" y="3685550"/>
            <a:ext cx="3374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700"/>
              <a:t>True information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